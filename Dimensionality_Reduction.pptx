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0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6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81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5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6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3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8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0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35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9130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11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86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2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0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Dimensionality Reduction Methods for Data Reduction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Survey of PCA, KPCA, Sparse KPCA, t-SNE, and UMAP</a:t>
            </a:r>
          </a:p>
          <a:p>
            <a:r>
              <a:rPr dirty="0"/>
              <a:t>Based on Foo Hui Mean &amp; Yuan-chin Ivan Chang (2025)</a:t>
            </a:r>
          </a:p>
          <a:p>
            <a:r>
              <a:rPr dirty="0"/>
              <a:t>By Deep Dhaduk</a:t>
            </a:r>
          </a:p>
          <a:p>
            <a:r>
              <a:rPr dirty="0"/>
              <a:t>CMPE 255 – San Jose State Universi</a:t>
            </a:r>
            <a:r>
              <a:rPr lang="en-IN" dirty="0"/>
              <a:t>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Dimensionality Reduction?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Modern datasets often have hundreds or thousands of features</a:t>
            </a:r>
          </a:p>
          <a:p>
            <a:pPr>
              <a:defRPr sz="2000"/>
            </a:pPr>
            <a:r>
              <a:t>High dimensionality leads to:</a:t>
            </a:r>
          </a:p>
          <a:p>
            <a:pPr lvl="1">
              <a:defRPr sz="2000"/>
            </a:pPr>
            <a:r>
              <a:t>Higher computational cost</a:t>
            </a:r>
          </a:p>
          <a:p>
            <a:pPr lvl="1">
              <a:defRPr sz="2000"/>
            </a:pPr>
            <a:r>
              <a:t>Curse of dimensionality</a:t>
            </a:r>
          </a:p>
          <a:p>
            <a:pPr lvl="1">
              <a:defRPr sz="2000"/>
            </a:pPr>
            <a:r>
              <a:t>Difficult visualization and interpretation</a:t>
            </a:r>
          </a:p>
          <a:p>
            <a:pPr>
              <a:defRPr sz="2000"/>
            </a:pPr>
            <a:r>
              <a:t>Goal: compress data while preserving important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Covered in the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Principal Component Analysis (PCA)</a:t>
            </a:r>
          </a:p>
          <a:p>
            <a:pPr>
              <a:defRPr sz="2000"/>
            </a:pPr>
            <a:r>
              <a:t>Kernel PCA (KPCA)</a:t>
            </a:r>
          </a:p>
          <a:p>
            <a:pPr>
              <a:defRPr sz="2000"/>
            </a:pPr>
            <a:r>
              <a:t>Sparse Kernel PCA</a:t>
            </a:r>
          </a:p>
          <a:p>
            <a:pPr>
              <a:defRPr sz="2000"/>
            </a:pPr>
            <a:r>
              <a:t>t-Distributed Stochastic Neighbor Embedding (t-SNE)</a:t>
            </a:r>
          </a:p>
          <a:p>
            <a:pPr>
              <a:defRPr sz="2000"/>
            </a:pPr>
            <a:r>
              <a:t>Uniform Manifold Approximation and Projection (UMAP)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PCA: Intuition &amp;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Find new axes (principal components) that capture maximum variance</a:t>
            </a:r>
          </a:p>
          <a:p>
            <a:pPr>
              <a:defRPr sz="2000"/>
            </a:pPr>
            <a:r>
              <a:t>Steps:</a:t>
            </a:r>
          </a:p>
          <a:p>
            <a:pPr lvl="1">
              <a:defRPr sz="2000"/>
            </a:pPr>
            <a:r>
              <a:t>Center the data and compute covariance matrix</a:t>
            </a:r>
          </a:p>
          <a:p>
            <a:pPr lvl="1">
              <a:defRPr sz="2000"/>
            </a:pPr>
            <a:r>
              <a:t>Perform eigen-decomposition to get eigenvalues/eigenvectors</a:t>
            </a:r>
          </a:p>
          <a:p>
            <a:pPr lvl="1">
              <a:defRPr sz="2000"/>
            </a:pPr>
            <a:r>
              <a:t>Sort components by explained variance</a:t>
            </a:r>
          </a:p>
          <a:p>
            <a:pPr lvl="1">
              <a:defRPr sz="2000"/>
            </a:pPr>
            <a:r>
              <a:t>Project data onto top k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PCA: Strengths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Strengths:</a:t>
            </a:r>
          </a:p>
          <a:p>
            <a:pPr lvl="1">
              <a:defRPr sz="2000"/>
            </a:pPr>
            <a:r>
              <a:t>Simple, fast, and widely used</a:t>
            </a:r>
          </a:p>
          <a:p>
            <a:pPr lvl="1">
              <a:defRPr sz="2000"/>
            </a:pPr>
            <a:r>
              <a:t>Good at capturing global linear structure</a:t>
            </a:r>
          </a:p>
          <a:p>
            <a:pPr lvl="1">
              <a:defRPr sz="2000"/>
            </a:pPr>
            <a:r>
              <a:t>Useful as a preprocessing step</a:t>
            </a:r>
          </a:p>
          <a:p>
            <a:pPr>
              <a:defRPr sz="2000"/>
            </a:pPr>
            <a:r>
              <a:t>Limitations:</a:t>
            </a:r>
          </a:p>
          <a:p>
            <a:pPr lvl="1">
              <a:defRPr sz="2000"/>
            </a:pPr>
            <a:r>
              <a:t>Assumes linear relationships</a:t>
            </a:r>
          </a:p>
          <a:p>
            <a:pPr lvl="1">
              <a:defRPr sz="2000"/>
            </a:pPr>
            <a:r>
              <a:t>Sensitive to scaling and outliers</a:t>
            </a:r>
          </a:p>
          <a:p>
            <a:pPr lvl="1">
              <a:defRPr sz="2000"/>
            </a:pPr>
            <a:r>
              <a:t>Components can be hard to interpret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 PCA (KPCA)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000"/>
            </a:pPr>
            <a:r>
              <a:t>Extends PCA to capture nonlinear structure</a:t>
            </a:r>
          </a:p>
          <a:p>
            <a:pPr>
              <a:defRPr sz="2000"/>
            </a:pPr>
            <a:r>
              <a:t>Uses kernel functions (e.g., RBF, polynomial) instead of explicit mapping</a:t>
            </a:r>
          </a:p>
          <a:p>
            <a:pPr>
              <a:defRPr sz="2000"/>
            </a:pPr>
            <a:r>
              <a:t>Performs eigen-decomposition on n × n kernel (Gram) matrix</a:t>
            </a:r>
          </a:p>
          <a:p>
            <a:pPr>
              <a:defRPr sz="2000"/>
            </a:pPr>
            <a:r>
              <a:t>Advantages:</a:t>
            </a:r>
          </a:p>
          <a:p>
            <a:pPr lvl="1">
              <a:defRPr sz="2000"/>
            </a:pPr>
            <a:r>
              <a:t>Can model complex manifolds</a:t>
            </a:r>
          </a:p>
          <a:p>
            <a:pPr>
              <a:defRPr sz="2000"/>
            </a:pPr>
            <a:r>
              <a:t>Limitations:</a:t>
            </a:r>
          </a:p>
          <a:p>
            <a:pPr lvl="1">
              <a:defRPr sz="2000"/>
            </a:pPr>
            <a:r>
              <a:t>High computational and memory cost (O(n³))</a:t>
            </a:r>
          </a:p>
          <a:p>
            <a:pPr lvl="1">
              <a:defRPr sz="2000"/>
            </a:pPr>
            <a:r>
              <a:t>Requires careful choice of kernel and parameters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Sparse Kernel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Addresses scalability issues in KPCA</a:t>
            </a:r>
          </a:p>
          <a:p>
            <a:pPr>
              <a:defRPr sz="2000"/>
            </a:pPr>
            <a:r>
              <a:t>Selects m representative samples (m ≪ n)</a:t>
            </a:r>
          </a:p>
          <a:p>
            <a:pPr>
              <a:defRPr sz="2000"/>
            </a:pPr>
            <a:r>
              <a:t>Builds an m × m reduced Gram matrix</a:t>
            </a:r>
          </a:p>
          <a:p>
            <a:pPr>
              <a:defRPr sz="2000"/>
            </a:pPr>
            <a:r>
              <a:t>Computational cost reduced to O(m³)</a:t>
            </a:r>
          </a:p>
          <a:p>
            <a:pPr>
              <a:defRPr sz="2000"/>
            </a:pPr>
            <a:r>
              <a:t>Trade-offs:</a:t>
            </a:r>
          </a:p>
          <a:p>
            <a:pPr lvl="1">
              <a:defRPr sz="2000"/>
            </a:pPr>
            <a:r>
              <a:t>Introduces approximation error</a:t>
            </a:r>
          </a:p>
          <a:p>
            <a:pPr lvl="1">
              <a:defRPr sz="2000"/>
            </a:pPr>
            <a:r>
              <a:t>Effectiveness depends on how representatives are chosen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t-SNE: Visualization-Oriented 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t>Designed for low-dimensional visualization (usually 2D)</a:t>
            </a:r>
          </a:p>
          <a:p>
            <a:pPr>
              <a:defRPr sz="2000"/>
            </a:pPr>
            <a:r>
              <a:t>Models pairwise similarities in high-dimensional space</a:t>
            </a:r>
          </a:p>
          <a:p>
            <a:pPr>
              <a:defRPr sz="2000"/>
            </a:pPr>
            <a:r>
              <a:t>Finds 2D embedding that preserves local neighbor relationships</a:t>
            </a:r>
          </a:p>
          <a:p>
            <a:pPr>
              <a:defRPr sz="2000"/>
            </a:pPr>
            <a:r>
              <a:t>Strengths:</a:t>
            </a:r>
          </a:p>
          <a:p>
            <a:pPr lvl="1">
              <a:defRPr sz="2000"/>
            </a:pPr>
            <a:r>
              <a:t>Reveals clear clusters and local structure</a:t>
            </a:r>
          </a:p>
          <a:p>
            <a:pPr lvl="1">
              <a:defRPr sz="2000"/>
            </a:pPr>
            <a:r>
              <a:t>Popular for exploratory data analysis</a:t>
            </a:r>
          </a:p>
          <a:p>
            <a:pPr>
              <a:defRPr sz="2000"/>
            </a:pPr>
            <a:r>
              <a:t>Limitations:</a:t>
            </a:r>
          </a:p>
          <a:p>
            <a:pPr lvl="1">
              <a:defRPr sz="2000"/>
            </a:pPr>
            <a:r>
              <a:t>Computationally expensive</a:t>
            </a:r>
          </a:p>
          <a:p>
            <a:pPr lvl="1">
              <a:defRPr sz="2000"/>
            </a:pPr>
            <a:r>
              <a:t>Poor at preserving global distances</a:t>
            </a:r>
          </a:p>
          <a:p>
            <a:pPr lvl="1">
              <a:defRPr sz="2000"/>
            </a:pPr>
            <a:r>
              <a:t>Sensitive to perplexity and other hyperparameters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UMAP: Fast Manifold-Based 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t>Builds k-nearest neighbor graph in high-dimensional space</a:t>
            </a:r>
          </a:p>
          <a:p>
            <a:pPr>
              <a:defRPr sz="2000"/>
            </a:pPr>
            <a:r>
              <a:t>Optimizes a low-dimensional embedding to preserve graph structure</a:t>
            </a:r>
          </a:p>
          <a:p>
            <a:pPr>
              <a:defRPr sz="2000"/>
            </a:pPr>
            <a:r>
              <a:t>Grounded in manifold learning and fuzzy topology</a:t>
            </a:r>
          </a:p>
          <a:p>
            <a:pPr>
              <a:defRPr sz="2000"/>
            </a:pPr>
            <a:r>
              <a:t>Strengths:</a:t>
            </a:r>
          </a:p>
          <a:p>
            <a:pPr lvl="1">
              <a:defRPr sz="2000"/>
            </a:pPr>
            <a:r>
              <a:t>Scales to large datasets (≈ O(n log n))</a:t>
            </a:r>
          </a:p>
          <a:p>
            <a:pPr lvl="1">
              <a:defRPr sz="2000"/>
            </a:pPr>
            <a:r>
              <a:t>Preserves local structure and some global relationships</a:t>
            </a:r>
          </a:p>
          <a:p>
            <a:pPr lvl="1">
              <a:defRPr sz="2000"/>
            </a:pPr>
            <a:r>
              <a:t>Useful for visualization and as preprocessing for clustering</a:t>
            </a:r>
          </a:p>
          <a:p>
            <a:pPr>
              <a:defRPr sz="2000"/>
            </a:pPr>
            <a:r>
              <a:t>Limitations:</a:t>
            </a:r>
          </a:p>
          <a:p>
            <a:pPr lvl="1">
              <a:defRPr sz="2000"/>
            </a:pPr>
            <a:r>
              <a:t>Sensitive to n_neighbors and min_dist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PCA: linear, fast, global variance; good for large n and d</a:t>
            </a:r>
          </a:p>
          <a:p>
            <a:pPr>
              <a:defRPr sz="2000"/>
            </a:pPr>
            <a:r>
              <a:t>KPCA: nonlinear, accurate but expensive; limited to smaller n</a:t>
            </a:r>
          </a:p>
          <a:p>
            <a:pPr>
              <a:defRPr sz="2000"/>
            </a:pPr>
            <a:r>
              <a:t>Sparse KPCA: scalable approximation to KPCA</a:t>
            </a:r>
          </a:p>
          <a:p>
            <a:pPr>
              <a:defRPr sz="2000"/>
            </a:pPr>
            <a:r>
              <a:t>t-SNE: best for local structure and cluster visualization</a:t>
            </a:r>
          </a:p>
          <a:p>
            <a:pPr>
              <a:defRPr sz="2000"/>
            </a:pPr>
            <a:r>
              <a:t>UMAP: scalable, good balance of local and global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Start with PCA as a baseline and for denoising</a:t>
            </a:r>
          </a:p>
          <a:p>
            <a:pPr>
              <a:defRPr sz="2000"/>
            </a:pPr>
            <a:r>
              <a:t>Use t-SNE or UMAP for 2D/3D visualization of complex data</a:t>
            </a:r>
          </a:p>
          <a:p>
            <a:pPr>
              <a:defRPr sz="2000"/>
            </a:pPr>
            <a:r>
              <a:t>Choose KPCA or Sparse KPCA when nonlinear structure is important</a:t>
            </a:r>
          </a:p>
          <a:p>
            <a:pPr>
              <a:defRPr sz="2000"/>
            </a:pPr>
            <a:r>
              <a:t>Always normalize data before applying these methods</a:t>
            </a:r>
          </a:p>
          <a:p>
            <a:pPr>
              <a:defRPr sz="2000"/>
            </a:pPr>
            <a:r>
              <a:t>Tune hyperparameters (perplexity, n_neighbors, etc.) carefully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Dimensionality reduction is essential in modern data mining</a:t>
            </a:r>
          </a:p>
          <a:p>
            <a:pPr>
              <a:defRPr sz="2000"/>
            </a:pPr>
            <a:r>
              <a:t>Different methods offer different trade-offs in accuracy and scalability</a:t>
            </a:r>
          </a:p>
          <a:p>
            <a:pPr>
              <a:defRPr sz="2000"/>
            </a:pPr>
            <a:r>
              <a:t>No single best method – choice depends on data and task</a:t>
            </a:r>
          </a:p>
          <a:p>
            <a:pPr>
              <a:defRPr sz="2000"/>
            </a:pPr>
            <a:r>
              <a:t>Future work: more scalable and interpretable DR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572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Dimensionality Reduction Methods for Data Reduction</vt:lpstr>
      <vt:lpstr>Why Dimensionality Reduction?</vt:lpstr>
      <vt:lpstr>Methods Covered in the Survey</vt:lpstr>
      <vt:lpstr>PCA: Intuition &amp; Procedure</vt:lpstr>
      <vt:lpstr>PCA: Strengths and Limitations</vt:lpstr>
      <vt:lpstr>Kernel PCA (KPCA)</vt:lpstr>
      <vt:lpstr>Sparse Kernel PCA</vt:lpstr>
      <vt:lpstr>t-SNE: Visualization-Oriented DR</vt:lpstr>
      <vt:lpstr>UMAP: Fast Manifold-Based DR</vt:lpstr>
      <vt:lpstr>Comparison of Methods</vt:lpstr>
      <vt:lpstr>Practical Guidelines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 Dhaduk</cp:lastModifiedBy>
  <cp:revision>4</cp:revision>
  <dcterms:created xsi:type="dcterms:W3CDTF">2013-01-27T09:14:16Z</dcterms:created>
  <dcterms:modified xsi:type="dcterms:W3CDTF">2025-11-29T00:51:40Z</dcterms:modified>
  <cp:category/>
</cp:coreProperties>
</file>